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3" r:id="rId5"/>
    <p:sldId id="257" r:id="rId6"/>
    <p:sldId id="258" r:id="rId7"/>
    <p:sldId id="260" r:id="rId8"/>
    <p:sldId id="261" r:id="rId9"/>
    <p:sldId id="262" r:id="rId10"/>
    <p:sldId id="259" r:id="rId11"/>
    <p:sldId id="264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8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B5349132-F051-0984-6CE4-D856D17636D0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15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B8DC7F0-24C2-EB72-8980-2859399815DD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031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BA24E9F-281B-A298-CC21-63215A5C8946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09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E741214D-8D0B-DB79-8F05-683CFE1A40A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02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Conteúdo 4">
            <a:extLst>
              <a:ext uri="{FF2B5EF4-FFF2-40B4-BE49-F238E27FC236}">
                <a16:creationId xmlns:a16="http://schemas.microsoft.com/office/drawing/2014/main" id="{04A29A15-B535-1AC8-F04F-1C9878D8AE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483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BED4A04B-A88C-DD9F-3700-7ADCAD69A033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0" y="-72025"/>
            <a:ext cx="12448087" cy="700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6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A75D73C-BE35-7549-42E1-5D9E00A2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1D75354-D92E-759F-EB95-EA6A3D1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60C9B63-2088-780D-5EEF-CEFCEA9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3189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3B80F-CE96-374E-F609-B178D6F9F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302E80-2797-16F6-F310-8108A39CB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DBAD53-8AF4-3E74-E076-FDC9BFF43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61DD9D-AD98-CB2F-65D8-229B0E570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D60E72-31CE-5C56-1070-77DD2BE8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D9B32C-A9A0-12FE-91C4-0C873A4EB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0135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18A12-B0E0-9375-458D-9267E3265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00223EF-4637-AE52-66FD-0B27FCE477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FB2EF2-C125-54D2-1EF5-8B587C10B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F268DF-3392-5D1A-B617-C118D1BCA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D4D19D-D86C-7E95-8989-0B51839C5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5DB2E8-794B-5FDB-723E-C286C96F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408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F69FD5-1408-B146-F41A-7C464980D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83778-6031-12E0-4A07-CBF2681A4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C01548-9CF7-E27D-28E9-190ACA1EE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1DE872-06DE-0891-6104-2C8CCB21B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753A42-6E7F-D3AA-A205-189E46963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8837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A56E90-9FFF-9104-10E3-4A374B0BB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9784915-D823-2638-AD71-7BE2C3DAA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925646-14F1-A79B-C4B7-71D61B39D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C47D3-7C66-3C4A-8E33-4B9A2E707011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F9D2AD-8FC9-ED34-2D45-8926881A4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1F3C3A-42F8-C8D7-9F85-D949F2134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359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8D8E16A-843B-9F07-C81D-C3E010FA7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5E835F-5A82-DB76-4ECB-A01FB7A7A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8A22A5-8C49-7A6B-427A-A68F3D0F0E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C47D3-7C66-3C4A-8E33-4B9A2E707011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53BB03-F987-528F-0416-7441FEB3A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71A7A-72B7-3512-1062-B3436AB47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180564-A68B-964F-A61E-4E60C3D183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756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0E0D8888-C355-78CF-70EE-952860902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68" y="542265"/>
            <a:ext cx="6949440" cy="146589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0D3C8BB-888E-0450-BF0B-95A75936C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76549"/>
            <a:ext cx="12192000" cy="1381451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A35F839F-F8EB-6D1A-BE26-C59A018F22C3}"/>
              </a:ext>
            </a:extLst>
          </p:cNvPr>
          <p:cNvSpPr txBox="1">
            <a:spLocks/>
          </p:cNvSpPr>
          <p:nvPr/>
        </p:nvSpPr>
        <p:spPr>
          <a:xfrm>
            <a:off x="464234" y="2767701"/>
            <a:ext cx="11254154" cy="16538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b="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WaveAI</a:t>
            </a:r>
            <a:endParaRPr lang="pt-BR" sz="3200" dirty="0">
              <a:solidFill>
                <a:schemeClr val="bg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6344" y="3931920"/>
            <a:ext cx="11256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0">
                <a:solidFill>
                  <a:srgbClr val="4FD1C5"/>
                </a:solidFill>
                <a:latin typeface="Google Sans Text"/>
              </a:rPr>
              <a:t>Sua mente em ondas. Seu bem-estar em movimento.</a:t>
            </a:r>
          </a:p>
        </p:txBody>
      </p:sp>
    </p:spTree>
    <p:extLst>
      <p:ext uri="{BB962C8B-B14F-4D97-AF65-F5344CB8AC3E}">
        <p14:creationId xmlns:p14="http://schemas.microsoft.com/office/powerpoint/2010/main" val="789731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99A4C65E-A501-A43E-044B-4AA741364EC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870332" y="666674"/>
            <a:ext cx="7823502" cy="1653888"/>
          </a:xfrm>
        </p:spPr>
        <p:txBody>
          <a:bodyPr>
            <a:normAutofit fontScale="90000"/>
          </a:bodyPr>
          <a:lstStyle/>
          <a:p>
            <a:pPr algn="l"/>
            <a:r>
              <a:rPr lang="pt-BR" b="1" dirty="0" sz="5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WaveAI</a:t>
            </a:r>
            <a:br>
              <a:rPr lang="pt-BR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pt-BR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t-BR" sz="2100" b="0" dirty="0">
                <a:solidFill>
                  <a:srgbClr val="0F7A7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
Sua mente em ondas. Seu bem-estar em movimento.</a:t>
            </a:r>
            <a:endParaRPr lang="pt-BR" sz="3100" dirty="0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53971DF9-155A-0FA9-15AD-4F1157747CB9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70332" y="3026645"/>
            <a:ext cx="7414351" cy="804709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dirty="0" b="1" sz="1600"/>
              <a:t>FATEC ZONA LESTE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pt-BR" dirty="0" sz="1300">
                <a:solidFill>
                  <a:srgbClr val="303030"/>
                </a:solidFill>
              </a:rPr>
              <a:t>Tiago Bryan Ramos de Oliveira  ·  Gustavo Mendes Vetieri Mariano  ·  Nickolas Maia de Araujo</a:t>
            </a:r>
          </a:p>
        </p:txBody>
      </p:sp>
    </p:spTree>
    <p:extLst>
      <p:ext uri="{BB962C8B-B14F-4D97-AF65-F5344CB8AC3E}">
        <p14:creationId xmlns:p14="http://schemas.microsoft.com/office/powerpoint/2010/main" val="150749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D3575AB-B98D-80D0-209E-CCF92CAD62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187B688-8023-D030-BF15-E3F82CBE628A}"/>
              </a:ext>
            </a:extLst>
          </p:cNvPr>
          <p:cNvSpPr txBox="1">
            <a:spLocks/>
          </p:cNvSpPr>
          <p:nvPr/>
        </p:nvSpPr>
        <p:spPr>
          <a:xfrm>
            <a:off x="868680" y="793283"/>
            <a:ext cx="10451592" cy="1653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Problema identificado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28FC2BC-322F-0407-D48B-19AD2C67AF40}"/>
              </a:ext>
            </a:extLst>
          </p:cNvPr>
          <p:cNvSpPr txBox="1"/>
          <p:nvPr/>
        </p:nvSpPr>
        <p:spPr>
          <a:xfrm>
            <a:off x="881815" y="210312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400" b="1">
                <a:solidFill>
                  <a:srgbClr val="303030"/>
                </a:solidFill>
                <a:latin typeface="Google Sans Text"/>
              </a:rPr>
              <a:t>O mercado: bem-estar mental deixou de ser pauta de RH e virou obrigação legal.</a:t>
            </a:r>
            <a:endParaRPr lang="pt-BR" dirty="0"/>
          </a:p>
          <a:p>
            <a:pPr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303030"/>
                </a:solidFill>
                <a:latin typeface="Google Sans Text"/>
              </a:rPr>
              <a:t>Desde 26 de maio de 2026, a NR-1 obriga toda empresa brasileira a identificar e gerenciar riscos psicossociais no PGR — com fiscalização e multa. Apenas 5% dos RHs se dizem preparados.</a:t>
            </a:r>
          </a:p>
          <a:p>
            <a:pPr>
              <a:lnSpc>
                <a:spcPct val="122000"/>
              </a:lnSpc>
              <a:spcBef>
                <a:spcPts val="800"/>
              </a:spcBef>
            </a:pPr>
            <a:r>
              <a:rPr sz="1400" b="1">
                <a:solidFill>
                  <a:srgbClr val="303030"/>
                </a:solidFill>
                <a:latin typeface="Google Sans Text"/>
              </a:rPr>
              <a:t>A dor: ninguém tem com o que medir.</a:t>
            </a:r>
          </a:p>
          <a:p>
            <a:pPr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303030"/>
                </a:solidFill>
                <a:latin typeface="Google Sans Text"/>
              </a:rPr>
              <a:t>A gestão de bem-estar se apoia em questionário e autorrelato — escalas de 1 a 5 respondidas justamente por quem está sobrecarregado. Não existe sinal objetivo na conta.</a:t>
            </a:r>
          </a:p>
          <a:p>
            <a:pPr>
              <a:lnSpc>
                <a:spcPct val="122000"/>
              </a:lnSpc>
              <a:spcBef>
                <a:spcPts val="800"/>
              </a:spcBef>
            </a:pPr>
            <a:r>
              <a:rPr sz="1400" b="1">
                <a:solidFill>
                  <a:srgbClr val="303030"/>
                </a:solidFill>
                <a:latin typeface="Google Sans Text"/>
              </a:rPr>
              <a:t>O público: empresas obrigadas pela NR-1, profissionais de bem-estar que acompanham pessoas e adultos que já medem passos, sono e batimentos — e não medem o cérebro.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103120"/>
            <a:ext cx="4023360" cy="7370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A5BC7"/>
                </a:solidFill>
                <a:latin typeface="Verdana"/>
              </a:rPr>
              <a:t>393 mil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768803"/>
            <a:ext cx="4023360" cy="5468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Google Sans Text"/>
              </a:rPr>
              <a:t>afastamentos do INSS por transtornos mentais em 2025 — 79% acima de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401568"/>
            <a:ext cx="4023360" cy="7370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7A70"/>
                </a:solidFill>
                <a:latin typeface="Verdana"/>
              </a:rPr>
              <a:t>3×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067251"/>
            <a:ext cx="4023360" cy="5468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Google Sans Text"/>
              </a:rPr>
              <a:t>foi o crescimento dos afastamentos por burnout entre 2023 e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700016"/>
            <a:ext cx="4023360" cy="7370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1220"/>
                </a:solidFill>
                <a:latin typeface="Verdana"/>
              </a:rPr>
              <a:t>R$ 954 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365699"/>
            <a:ext cx="4023360" cy="5468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Google Sans Text"/>
              </a:rPr>
              <a:t>o custo desses benefícios para o INSS no último ano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65099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Google Sans Text"/>
              </a:rPr>
              <a:t>Fonte: ANAMT, com microdados oficiais do INSS (2026)</a:t>
            </a:r>
          </a:p>
        </p:txBody>
      </p:sp>
    </p:spTree>
    <p:extLst>
      <p:ext uri="{BB962C8B-B14F-4D97-AF65-F5344CB8AC3E}">
        <p14:creationId xmlns:p14="http://schemas.microsoft.com/office/powerpoint/2010/main" val="3417863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4BF4D-19D9-0F61-1FAE-333D3206A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2225259-7512-A93F-CC31-616D71AE0E0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1F2358E-0261-D9D4-1FF4-87BD6E3FCB41}"/>
              </a:ext>
            </a:extLst>
          </p:cNvPr>
          <p:cNvSpPr txBox="1">
            <a:spLocks/>
          </p:cNvSpPr>
          <p:nvPr/>
        </p:nvSpPr>
        <p:spPr>
          <a:xfrm>
            <a:off x="868680" y="793283"/>
            <a:ext cx="10451592" cy="1653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Proposta de solução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1B4E136-7C81-143A-CE3A-C0FF1FABBF4C}"/>
              </a:ext>
            </a:extLst>
          </p:cNvPr>
          <p:cNvSpPr txBox="1"/>
          <p:nvPr/>
        </p:nvSpPr>
        <p:spPr>
          <a:xfrm>
            <a:off x="881815" y="210312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400" b="1">
                <a:solidFill>
                  <a:srgbClr val="303030"/>
                </a:solidFill>
                <a:latin typeface="Google Sans Text"/>
              </a:rPr>
              <a:t>O WaveAI tira o eletroencefalograma do hospital e o põe na rotina.</a:t>
            </a:r>
          </a:p>
          <a:p>
            <a:pPr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303030"/>
                </a:solidFill>
                <a:latin typeface="Google Sans Text"/>
              </a:rPr>
              <a:t>Um aparelho de EEG de consumo lê o sinal elétrico do córtex frontal a 512 amostras por segundo. O aplicativo capta, o servidor analisa e a pessoa passa a ver a tendência do próprio sinal ao longo das semanas.</a:t>
            </a:r>
          </a:p>
          <a:p>
            <a:pPr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303030"/>
                </a:solidFill>
                <a:latin typeface="Google Sans Text"/>
              </a:rPr>
              <a:t>A transformação prática: onde antes havia uma resposta de questionário, passa a haver uma série temporal medida — com indicador de qualidade do sinal em cada sessão.</a:t>
            </a:r>
          </a:p>
          <a:p>
            <a:pPr>
              <a:lnSpc>
                <a:spcPct val="122000"/>
              </a:lnSpc>
              <a:spcBef>
                <a:spcPts val="800"/>
              </a:spcBef>
            </a:pPr>
            <a:r>
              <a:rPr sz="1400" b="1">
                <a:solidFill>
                  <a:srgbClr val="303030"/>
                </a:solidFill>
                <a:latin typeface="Google Sans Text"/>
              </a:rPr>
              <a:t>Ferramenta não-clínica e não-diagnóstica.</a:t>
            </a:r>
          </a:p>
          <a:p>
            <a:pPr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303030"/>
                </a:solidFill>
                <a:latin typeface="Google Sans Text"/>
              </a:rPr>
              <a:t>O WaveAI mede, registra e organiza. Quem interpreta é o profissional de bem-estar, que agora decide com número e não apenas com relato.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103120"/>
            <a:ext cx="4023360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79" y="2249424"/>
            <a:ext cx="384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7A70"/>
                </a:solidFill>
                <a:latin typeface="Verdan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2231136"/>
            <a:ext cx="32186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220"/>
                </a:solidFill>
                <a:latin typeface="Google Sans Text"/>
              </a:rPr>
              <a:t>Captar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sz="1000" b="0">
                <a:solidFill>
                  <a:srgbClr val="6B7280"/>
                </a:solidFill>
                <a:latin typeface="Google Sans Text"/>
              </a:rPr>
              <a:t>Aparelho de consumo, 512 Hz, sinal bruto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044952"/>
            <a:ext cx="4023360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79" y="3191256"/>
            <a:ext cx="384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7A70"/>
                </a:solidFill>
                <a:latin typeface="Verdan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3172968"/>
            <a:ext cx="32186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220"/>
                </a:solidFill>
                <a:latin typeface="Google Sans Text"/>
              </a:rPr>
              <a:t>Conferir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sz="1000" b="0">
                <a:solidFill>
                  <a:srgbClr val="6B7280"/>
                </a:solidFill>
                <a:latin typeface="Google Sans Text"/>
              </a:rPr>
              <a:t>Protocolo guiado verifica o instrumento antes de medir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986784"/>
            <a:ext cx="4023360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79" y="4133088"/>
            <a:ext cx="384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7A70"/>
                </a:solidFill>
                <a:latin typeface="Verdan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4114800"/>
            <a:ext cx="32186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220"/>
                </a:solidFill>
                <a:latin typeface="Google Sans Text"/>
              </a:rPr>
              <a:t>Analisar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sz="1000" b="0">
                <a:solidFill>
                  <a:srgbClr val="6B7280"/>
                </a:solidFill>
                <a:latin typeface="Google Sans Text"/>
              </a:rPr>
              <a:t>13 indicadores, com qualidade de sinal por sessão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928616"/>
            <a:ext cx="4023360" cy="84124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98079" y="5074920"/>
            <a:ext cx="3840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7A70"/>
                </a:solidFill>
                <a:latin typeface="Verdan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5056632"/>
            <a:ext cx="32186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220"/>
                </a:solidFill>
                <a:latin typeface="Google Sans Text"/>
              </a:rPr>
              <a:t>Acompanhar</a:t>
            </a:r>
          </a:p>
          <a:p>
            <a:pPr>
              <a:lnSpc>
                <a:spcPct val="110000"/>
              </a:lnSpc>
              <a:spcBef>
                <a:spcPts val="200"/>
              </a:spcBef>
            </a:pPr>
            <a:r>
              <a:rPr sz="1000" b="0">
                <a:solidFill>
                  <a:srgbClr val="6B7280"/>
                </a:solidFill>
                <a:latin typeface="Google Sans Text"/>
              </a:rPr>
              <a:t>A tendência ao longo do tempo é o produto</a:t>
            </a:r>
          </a:p>
        </p:txBody>
      </p:sp>
    </p:spTree>
    <p:extLst>
      <p:ext uri="{BB962C8B-B14F-4D97-AF65-F5344CB8AC3E}">
        <p14:creationId xmlns:p14="http://schemas.microsoft.com/office/powerpoint/2010/main" val="2054070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23C6D-BD48-5CF7-1723-ADFF28987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8D1C9A2-970E-0E8B-341B-BC5E4A29DE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19851E5-774F-EAAE-89FC-5C738F78062C}"/>
              </a:ext>
            </a:extLst>
          </p:cNvPr>
          <p:cNvSpPr txBox="1">
            <a:spLocks/>
          </p:cNvSpPr>
          <p:nvPr/>
        </p:nvSpPr>
        <p:spPr>
          <a:xfrm>
            <a:off x="868680" y="793283"/>
            <a:ext cx="10451592" cy="1653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Diferenciais competitivos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968DA4F-733F-C212-E76A-02AD084C70E2}"/>
              </a:ext>
            </a:extLst>
          </p:cNvPr>
          <p:cNvSpPr txBox="1"/>
          <p:nvPr/>
        </p:nvSpPr>
        <p:spPr>
          <a:xfrm>
            <a:off x="877824" y="210312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400" b="1">
                <a:solidFill>
                  <a:srgbClr val="303030"/>
                </a:solidFill>
                <a:latin typeface="Google Sans Text"/>
              </a:rPr>
              <a:t>Contra o questionário, que é a alternativa real: medimos.</a:t>
            </a:r>
          </a:p>
          <a:p>
            <a:pPr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303030"/>
                </a:solidFill>
                <a:latin typeface="Google Sans Text"/>
              </a:rPr>
              <a:t>As plataformas de bem-estar corporativo entregam formulário, conteúdo e sessão de terapia. Nenhuma entrega sinal fisiológico. É outra categoria de evidência, e é a que a NR-1 vai cobrar.</a:t>
            </a:r>
          </a:p>
          <a:p>
            <a:pPr>
              <a:lnSpc>
                <a:spcPct val="122000"/>
              </a:lnSpc>
              <a:spcBef>
                <a:spcPts val="800"/>
              </a:spcBef>
            </a:pPr>
            <a:r>
              <a:rPr sz="1400" b="1">
                <a:solidFill>
                  <a:srgbClr val="303030"/>
                </a:solidFill>
                <a:latin typeface="Google Sans Text"/>
              </a:rPr>
              <a:t>Contra o EEG clínico: cabe na rotina.</a:t>
            </a:r>
          </a:p>
          <a:p>
            <a:pPr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303030"/>
                </a:solidFill>
                <a:latin typeface="Google Sans Text"/>
              </a:rPr>
              <a:t>Equipamento de laboratório exige sala, técnico e agendamento, e produz uma fotografia isolada. Nós produzimos série contínua, em casa, sem operador — que é o que revela tendência.</a:t>
            </a:r>
          </a:p>
          <a:p>
            <a:pPr>
              <a:lnSpc>
                <a:spcPct val="122000"/>
              </a:lnSpc>
              <a:spcBef>
                <a:spcPts val="800"/>
              </a:spcBef>
            </a:pPr>
            <a:r>
              <a:rPr sz="1400" b="1">
                <a:solidFill>
                  <a:srgbClr val="303030"/>
                </a:solidFill>
                <a:latin typeface="Google Sans Text"/>
              </a:rPr>
              <a:t>Contra quem fizer igual: já estamos no ar.</a:t>
            </a:r>
          </a:p>
          <a:p>
            <a:pPr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303030"/>
                </a:solidFill>
                <a:latin typeface="Google Sans Text"/>
              </a:rPr>
              <a:t>A plataforma está em produção e acessível pelo navegador, construída por três estudantes, com infraestrutura que custa praticamente zero em repouso.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103120"/>
            <a:ext cx="402336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516368" y="2258568"/>
            <a:ext cx="36210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F7A70"/>
                </a:solidFill>
                <a:latin typeface="Google Sans Text"/>
              </a:rPr>
              <a:t>A tela nunca mente</a:t>
            </a:r>
          </a:p>
          <a:p>
            <a:pPr>
              <a:lnSpc>
                <a:spcPct val="114000"/>
              </a:lnSpc>
              <a:spcBef>
                <a:spcPts val="300"/>
              </a:spcBef>
            </a:pPr>
            <a:r>
              <a:rPr sz="950" b="0">
                <a:solidFill>
                  <a:srgbClr val="303030"/>
                </a:solidFill>
                <a:latin typeface="Google Sans Text"/>
              </a:rPr>
              <a:t>Se a medida saiu ruim, está escrito que saiu ruim. “Não foi medido direito” e “foi medido e não deu” são frases diferentes.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319272"/>
            <a:ext cx="402336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516368" y="3474720"/>
            <a:ext cx="36210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F7A70"/>
                </a:solidFill>
                <a:latin typeface="Google Sans Text"/>
              </a:rPr>
              <a:t>O dado é do titular</a:t>
            </a:r>
          </a:p>
          <a:p>
            <a:pPr>
              <a:lnSpc>
                <a:spcPct val="114000"/>
              </a:lnSpc>
              <a:spcBef>
                <a:spcPts val="300"/>
              </a:spcBef>
            </a:pPr>
            <a:r>
              <a:rPr sz="950" b="0">
                <a:solidFill>
                  <a:srgbClr val="303030"/>
                </a:solidFill>
                <a:latin typeface="Google Sans Text"/>
              </a:rPr>
              <a:t>Cifrado, com leitura auditada e exclusão imediata. O compartilhamento com o profissional nasce desligado — quem liga é a pessoa.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535424"/>
            <a:ext cx="402336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16368" y="4690872"/>
            <a:ext cx="36210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F7A70"/>
                </a:solidFill>
                <a:latin typeface="Google Sans Text"/>
              </a:rPr>
              <a:t>Análise rastreável</a:t>
            </a:r>
          </a:p>
          <a:p>
            <a:pPr>
              <a:lnSpc>
                <a:spcPct val="114000"/>
              </a:lnSpc>
              <a:spcBef>
                <a:spcPts val="300"/>
              </a:spcBef>
            </a:pPr>
            <a:r>
              <a:rPr sz="950" b="0">
                <a:solidFill>
                  <a:srgbClr val="303030"/>
                </a:solidFill>
                <a:latin typeface="Google Sans Text"/>
              </a:rPr>
              <a:t>Cada resultado grava a versão do motor que o produziu. Dá para auditar como aquele número foi obtido, meses depois.</a:t>
            </a:r>
          </a:p>
        </p:txBody>
      </p:sp>
    </p:spTree>
    <p:extLst>
      <p:ext uri="{BB962C8B-B14F-4D97-AF65-F5344CB8AC3E}">
        <p14:creationId xmlns:p14="http://schemas.microsoft.com/office/powerpoint/2010/main" val="2477751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6E7A3-78A9-7C2D-5172-C36D10711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9425F1B-C0FA-24E1-E5BA-AF8973CD74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F926E4E-DDC0-73A6-5E5E-90FA26286073}"/>
              </a:ext>
            </a:extLst>
          </p:cNvPr>
          <p:cNvSpPr txBox="1">
            <a:spLocks/>
          </p:cNvSpPr>
          <p:nvPr/>
        </p:nvSpPr>
        <p:spPr>
          <a:xfrm>
            <a:off x="868680" y="793283"/>
            <a:ext cx="10451592" cy="1653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Modelo de Negócios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8ACD394-D26D-13D6-1084-CB6375F32EC1}"/>
              </a:ext>
            </a:extLst>
          </p:cNvPr>
          <p:cNvSpPr txBox="1"/>
          <p:nvPr/>
        </p:nvSpPr>
        <p:spPr>
          <a:xfrm>
            <a:off x="877824" y="210312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400" b="1">
                <a:solidFill>
                  <a:srgbClr val="303030"/>
                </a:solidFill>
                <a:latin typeface="Google Sans Text"/>
              </a:rPr>
              <a:t>Três receitas, uma porta de entrada.</a:t>
            </a:r>
          </a:p>
          <a:p>
            <a:pPr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303030"/>
                </a:solidFill>
                <a:latin typeface="Google Sans Text"/>
              </a:rPr>
              <a:t>1 · Assinatura do profissional de bem-estar, por paciente acompanhado. É o canal: ele traz o paciente junto.</a:t>
            </a:r>
          </a:p>
          <a:p>
            <a:pPr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303030"/>
                </a:solidFill>
                <a:latin typeface="Google Sans Text"/>
              </a:rPr>
              <a:t>2 · Pacote corporativo para a NR-1, cobrado por colaborador aderente. A empresa recebe indicador agregado e anônimo, com adesão voluntária — o empregador nunca vê o dado de um indivíduo. É a linha que escala.</a:t>
            </a:r>
          </a:p>
          <a:p>
            <a:pPr>
              <a:lnSpc>
                <a:spcPct val="122000"/>
              </a:lnSpc>
              <a:spcBef>
                <a:spcPts val="800"/>
              </a:spcBef>
            </a:pPr>
            <a:r>
              <a:rPr sz="1400" b="0">
                <a:solidFill>
                  <a:srgbClr val="303030"/>
                </a:solidFill>
                <a:latin typeface="Google Sans Text"/>
              </a:rPr>
              <a:t>3 · Licença do motor de análise como API, para quem já tem aparelho e não tem a inteligência.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103120"/>
            <a:ext cx="4023360" cy="1874519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589520" y="2377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4FD1C5"/>
                </a:solidFill>
                <a:latin typeface="Verdana"/>
              </a:rPr>
              <a:t>US$ 2,7 bi</a:t>
            </a:r>
          </a:p>
          <a:p>
            <a:pPr>
              <a:lnSpc>
                <a:spcPct val="122000"/>
              </a:lnSpc>
              <a:spcBef>
                <a:spcPts val="800"/>
              </a:spcBef>
            </a:pPr>
            <a:r>
              <a:rPr sz="1100" b="0">
                <a:solidFill>
                  <a:srgbClr val="F5F7FA"/>
                </a:solidFill>
                <a:latin typeface="Google Sans Text"/>
              </a:rPr>
              <a:t>é o tamanho projetado do mercado global de EEG vestível em 2030, contra US$ 1,5 bi em 2025 — crescimento de 12,4% ao 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297680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Google Sans Text"/>
              </a:rPr>
              <a:t>PARA SAIR DO PILOTO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6368" y="4626864"/>
            <a:ext cx="38221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220"/>
                </a:solidFill>
                <a:latin typeface="Google Sans Text"/>
              </a:rPr>
              <a:t>Laboratório com EEG de referência</a:t>
            </a:r>
          </a:p>
          <a:p>
            <a:pPr>
              <a:lnSpc>
                <a:spcPct val="110000"/>
              </a:lnSpc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  <a:latin typeface="Google Sans Text"/>
              </a:rPr>
              <a:t>fecha o estudo de fidelidade de sinal</a:t>
            </a:r>
          </a:p>
        </p:txBody>
      </p:sp>
      <p:sp>
        <p:nvSpPr>
          <p:cNvPr id="10" name="Oval 9"/>
          <p:cNvSpPr/>
          <p:nvPr/>
        </p:nvSpPr>
        <p:spPr>
          <a:xfrm>
            <a:off x="7333488" y="4690872"/>
            <a:ext cx="82296" cy="82296"/>
          </a:xfrm>
          <a:prstGeom prst="ellipse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8" y="5084064"/>
            <a:ext cx="38221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220"/>
                </a:solidFill>
                <a:latin typeface="Google Sans Text"/>
              </a:rPr>
              <a:t>Parecer regulatório e revisão jurídica</a:t>
            </a:r>
          </a:p>
          <a:p>
            <a:pPr>
              <a:lnSpc>
                <a:spcPct val="110000"/>
              </a:lnSpc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  <a:latin typeface="Google Sans Text"/>
              </a:rPr>
              <a:t>define até onde podemos afirmar</a:t>
            </a:r>
          </a:p>
        </p:txBody>
      </p:sp>
      <p:sp>
        <p:nvSpPr>
          <p:cNvPr id="12" name="Oval 11"/>
          <p:cNvSpPr/>
          <p:nvPr/>
        </p:nvSpPr>
        <p:spPr>
          <a:xfrm>
            <a:off x="7333488" y="5148072"/>
            <a:ext cx="82296" cy="82296"/>
          </a:xfrm>
          <a:prstGeom prst="ellipse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6368" y="5541264"/>
            <a:ext cx="382219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1220"/>
                </a:solidFill>
                <a:latin typeface="Google Sans Text"/>
              </a:rPr>
              <a:t>Piloto pago com profissionais reais</a:t>
            </a:r>
          </a:p>
          <a:p>
            <a:pPr>
              <a:lnSpc>
                <a:spcPct val="110000"/>
              </a:lnSpc>
              <a:spcBef>
                <a:spcPts val="100"/>
              </a:spcBef>
            </a:pPr>
            <a:r>
              <a:rPr sz="900" b="0">
                <a:solidFill>
                  <a:srgbClr val="6B7280"/>
                </a:solidFill>
                <a:latin typeface="Google Sans Text"/>
              </a:rPr>
              <a:t>primeiro dado de uso e validação de preço</a:t>
            </a:r>
          </a:p>
        </p:txBody>
      </p:sp>
      <p:sp>
        <p:nvSpPr>
          <p:cNvPr id="14" name="Oval 13"/>
          <p:cNvSpPr/>
          <p:nvPr/>
        </p:nvSpPr>
        <p:spPr>
          <a:xfrm>
            <a:off x="7333488" y="5605272"/>
            <a:ext cx="82296" cy="82296"/>
          </a:xfrm>
          <a:prstGeom prst="ellipse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43796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C552663-AC5B-125E-D307-6AB72D5BF0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F33B16F8-1E8B-4BD6-E42B-984A3DF7F750}"/>
              </a:ext>
            </a:extLst>
          </p:cNvPr>
          <p:cNvSpPr txBox="1">
            <a:spLocks/>
          </p:cNvSpPr>
          <p:nvPr/>
        </p:nvSpPr>
        <p:spPr>
          <a:xfrm>
            <a:off x="868680" y="4041648"/>
            <a:ext cx="10451592" cy="566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3200" b="1" dirty="0">
                <a:solidFill>
                  <a:srgbClr val="0B1220"/>
                </a:solidFill>
                <a:latin typeface="Verdana"/>
              </a:rPr>
              <a:t>Sua mente em ondas.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626864"/>
            <a:ext cx="10451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0F7A70"/>
                </a:solidFill>
                <a:latin typeface="Verdana"/>
              </a:rPr>
              <a:t>Seu bem-estar em movimento.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413248"/>
            <a:ext cx="10451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A5BC7"/>
                </a:solidFill>
                <a:latin typeface="Google Sans Text"/>
              </a:rPr>
              <a:t>waveai.tec.br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742432"/>
            <a:ext cx="10451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Google Sans Text"/>
              </a:rPr>
              <a:t>Tiago Bryan Ramos de Oliveira  ·  Gustavo Mendes Vetieri Mariano  ·  Nickolas Maia de Araujo</a:t>
            </a:r>
          </a:p>
        </p:txBody>
      </p:sp>
    </p:spTree>
    <p:extLst>
      <p:ext uri="{BB962C8B-B14F-4D97-AF65-F5344CB8AC3E}">
        <p14:creationId xmlns:p14="http://schemas.microsoft.com/office/powerpoint/2010/main" val="285761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D48C8-7E62-AF97-79E2-9A7954445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F31068D5-3C0C-EF23-3ECD-E85CA9103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603" y="2230388"/>
            <a:ext cx="6949440" cy="146589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016C2A4-C613-331E-BA70-048020482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76549"/>
            <a:ext cx="12192000" cy="138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8864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8ac7d42-e496-4e2c-8569-72af69d93c5c" xsi:nil="true"/>
    <_Flow_SignoffStatus xmlns="33a72eb7-7584-48bf-b008-1d13f1023413" xsi:nil="true"/>
    <lcf76f155ced4ddcb4097134ff3c332f xmlns="33a72eb7-7584-48bf-b008-1d13f102341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589B0FF50EEEE42992490B27E3F321C" ma:contentTypeVersion="15" ma:contentTypeDescription="Crie um novo documento." ma:contentTypeScope="" ma:versionID="55f963d6fb16ff22f7c8b887fbd3418a">
  <xsd:schema xmlns:xsd="http://www.w3.org/2001/XMLSchema" xmlns:xs="http://www.w3.org/2001/XMLSchema" xmlns:p="http://schemas.microsoft.com/office/2006/metadata/properties" xmlns:ns2="33a72eb7-7584-48bf-b008-1d13f1023413" xmlns:ns3="88ac7d42-e496-4e2c-8569-72af69d93c5c" targetNamespace="http://schemas.microsoft.com/office/2006/metadata/properties" ma:root="true" ma:fieldsID="5c12381349619f8055d29c9e944d7f8e" ns2:_="" ns3:_="">
    <xsd:import namespace="33a72eb7-7584-48bf-b008-1d13f1023413"/>
    <xsd:import namespace="88ac7d42-e496-4e2c-8569-72af69d93c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_Flow_SignoffStatu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a72eb7-7584-48bf-b008-1d13f10234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2dab9438-f903-450b-a158-c86bb4a35df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20" nillable="true" ma:displayName="Status de liberação" ma:internalName="_x0024_Resources_x003a_core_x002c_Signoff_Status">
      <xsd:simpleType>
        <xsd:restriction base="dms:Text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7d42-e496-4e2c-8569-72af69d93c5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541d3ab-305e-4232-8286-3bf7fd19c279}" ma:internalName="TaxCatchAll" ma:showField="CatchAllData" ma:web="88ac7d42-e496-4e2c-8569-72af69d93c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E44988-61DF-4154-850D-469585E8C894}">
  <ds:schemaRefs>
    <ds:schemaRef ds:uri="http://schemas.microsoft.com/office/2006/metadata/properties"/>
    <ds:schemaRef ds:uri="http://schemas.microsoft.com/office/infopath/2007/PartnerControls"/>
    <ds:schemaRef ds:uri="88ac7d42-e496-4e2c-8569-72af69d93c5c"/>
    <ds:schemaRef ds:uri="33a72eb7-7584-48bf-b008-1d13f1023413"/>
  </ds:schemaRefs>
</ds:datastoreItem>
</file>

<file path=customXml/itemProps2.xml><?xml version="1.0" encoding="utf-8"?>
<ds:datastoreItem xmlns:ds="http://schemas.openxmlformats.org/officeDocument/2006/customXml" ds:itemID="{4CC8C436-96F6-4FD0-8A9C-BE16DD91418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876A29-CBF0-409D-B201-422C484291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a72eb7-7584-48bf-b008-1d13f1023413"/>
    <ds:schemaRef ds:uri="88ac7d42-e496-4e2c-8569-72af69d93c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108</Words>
  <Application>Microsoft Office PowerPoint</Application>
  <PresentationFormat>Widescreen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Google Sans Text</vt:lpstr>
      <vt:lpstr>Verdana</vt:lpstr>
      <vt:lpstr>Tema do Office</vt:lpstr>
      <vt:lpstr>Apresentação do PowerPoint</vt:lpstr>
      <vt:lpstr>Nome do Projeto  Frase de impacto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Daniele Alves Pereira</dc:creator>
  <cp:lastModifiedBy>Agente de Inovação e Carreiras agente1.inovacarreiras</cp:lastModifiedBy>
  <cp:revision>7</cp:revision>
  <dcterms:created xsi:type="dcterms:W3CDTF">2026-05-27T21:30:53Z</dcterms:created>
  <dcterms:modified xsi:type="dcterms:W3CDTF">2026-09-11T19:30:31Z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0x0101001589B0FF50EEEE42992490B27E3F321C</vt:lpwstr>
  </property>
  <property fmtid="{D5CDD505-2E9C-101B-9397-08002B2CF9AE}" pid="3" name="MSIP_Label_ff380b4d-8a71-4241-982c-3816ad3ce8fc_Enabled">
    <vt:lpwstr>true</vt:lpwstr>
  </property>
  <property fmtid="{D5CDD505-2E9C-101B-9397-08002B2CF9AE}" pid="4" name="MSIP_Label_ff380b4d-8a71-4241-982c-3816ad3ce8fc_SetDate">
    <vt:lpwstr>2026-06-22T18:49:09Z</vt:lpwstr>
  </property>
  <property fmtid="{D5CDD505-2E9C-101B-9397-08002B2CF9AE}" pid="5" name="MSIP_Label_ff380b4d-8a71-4241-982c-3816ad3ce8fc_Method">
    <vt:lpwstr>Standard</vt:lpwstr>
  </property>
  <property fmtid="{D5CDD505-2E9C-101B-9397-08002B2CF9AE}" pid="6" name="MSIP_Label_ff380b4d-8a71-4241-982c-3816ad3ce8fc_Name">
    <vt:lpwstr>defa4170-0d19-0005-0004-bc88714345d2</vt:lpwstr>
  </property>
  <property fmtid="{D5CDD505-2E9C-101B-9397-08002B2CF9AE}" pid="7" name="MSIP_Label_ff380b4d-8a71-4241-982c-3816ad3ce8fc_SiteId">
    <vt:lpwstr>eabe64c5-68f5-4a76-8301-9577a679e449</vt:lpwstr>
  </property>
  <property fmtid="{D5CDD505-2E9C-101B-9397-08002B2CF9AE}" pid="8" name="MSIP_Label_ff380b4d-8a71-4241-982c-3816ad3ce8fc_ActionId">
    <vt:lpwstr>b5b45826-6b65-45eb-bbad-ca305dfebda8</vt:lpwstr>
  </property>
  <property fmtid="{D5CDD505-2E9C-101B-9397-08002B2CF9AE}" pid="9" name="MSIP_Label_ff380b4d-8a71-4241-982c-3816ad3ce8fc_ContentBits">
    <vt:lpwstr>0</vt:lpwstr>
  </property>
  <property fmtid="{D5CDD505-2E9C-101B-9397-08002B2CF9AE}" pid="10" name="MSIP_Label_ff380b4d-8a71-4241-982c-3816ad3ce8fc_Tag">
    <vt:lpwstr>50, 3, 0, 1</vt:lpwstr>
  </property>
</Properties>
</file>